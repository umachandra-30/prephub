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Heebo Bold" panose="020B0604020202020204" charset="-79"/>
      <p:regular r:id="rId13"/>
    </p:embeddedFont>
    <p:embeddedFont>
      <p:font typeface="Heebo Light" pitchFamily="2" charset="-79"/>
      <p:regular r:id="rId14"/>
    </p:embeddedFont>
    <p:embeddedFont>
      <p:font typeface="Montserrat" panose="00000500000000000000" pitchFamily="2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36"/>
    <a:srgbClr val="000039"/>
    <a:srgbClr val="000037"/>
    <a:srgbClr val="000032"/>
    <a:srgbClr val="000064"/>
    <a:srgbClr val="000046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41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hootproof.com/sopi-2026-april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1638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Preparation Hub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816075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Cloud-Based Student Preparation Platform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25013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  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Presented by: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2763962"/>
            <a:ext cx="2188443" cy="9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1. Bapatla Kavya Sri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2. Bhimireddy Vaishnavi Reddy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3. Bitra Sri Lakshmi Nivas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035201" y="2763962"/>
            <a:ext cx="21884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4. Uma Chandra Chakravaram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5. Kumara Vishnu Chattu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7162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0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340346"/>
            <a:ext cx="70842" cy="70842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4" name="Text 2"/>
          <p:cNvSpPr/>
          <p:nvPr/>
        </p:nvSpPr>
        <p:spPr>
          <a:xfrm>
            <a:off x="708720" y="1265039"/>
            <a:ext cx="79391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6119" y="1845320"/>
            <a:ext cx="70842" cy="70842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6" name="Text 4"/>
          <p:cNvSpPr/>
          <p:nvPr/>
        </p:nvSpPr>
        <p:spPr>
          <a:xfrm>
            <a:off x="708720" y="1770013"/>
            <a:ext cx="79391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Overview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96119" y="2350294"/>
            <a:ext cx="70842" cy="70842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8" name="Text 6"/>
          <p:cNvSpPr/>
          <p:nvPr/>
        </p:nvSpPr>
        <p:spPr>
          <a:xfrm>
            <a:off x="708720" y="2274987"/>
            <a:ext cx="79391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96119" y="2855268"/>
            <a:ext cx="70842" cy="70842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10" name="Text 8"/>
          <p:cNvSpPr/>
          <p:nvPr/>
        </p:nvSpPr>
        <p:spPr>
          <a:xfrm>
            <a:off x="708720" y="2779961"/>
            <a:ext cx="79391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Services Used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96119" y="3360241"/>
            <a:ext cx="70842" cy="70842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12" name="Text 10"/>
          <p:cNvSpPr/>
          <p:nvPr/>
        </p:nvSpPr>
        <p:spPr>
          <a:xfrm>
            <a:off x="708720" y="3284934"/>
            <a:ext cx="79391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96119" y="3865215"/>
            <a:ext cx="70842" cy="70842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14" name="Text 12"/>
          <p:cNvSpPr/>
          <p:nvPr/>
        </p:nvSpPr>
        <p:spPr>
          <a:xfrm>
            <a:off x="708720" y="3789908"/>
            <a:ext cx="79391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96119" y="4370189"/>
            <a:ext cx="70842" cy="70842"/>
          </a:xfrm>
          <a:prstGeom prst="ellipse">
            <a:avLst/>
          </a:prstGeom>
          <a:solidFill>
            <a:srgbClr val="581CA0"/>
          </a:solidFill>
          <a:ln/>
        </p:spPr>
      </p:sp>
      <p:sp>
        <p:nvSpPr>
          <p:cNvPr id="16" name="Text 14"/>
          <p:cNvSpPr/>
          <p:nvPr/>
        </p:nvSpPr>
        <p:spPr>
          <a:xfrm>
            <a:off x="708720" y="4294882"/>
            <a:ext cx="79391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911BA4-A2AA-5257-5D0A-40511D77A7E7}"/>
              </a:ext>
            </a:extLst>
          </p:cNvPr>
          <p:cNvSpPr txBox="1"/>
          <p:nvPr/>
        </p:nvSpPr>
        <p:spPr>
          <a:xfrm>
            <a:off x="8004517" y="4774168"/>
            <a:ext cx="1076178" cy="369332"/>
          </a:xfrm>
          <a:prstGeom prst="rect">
            <a:avLst/>
          </a:prstGeom>
          <a:solidFill>
            <a:srgbClr val="000036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494383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0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20" y="2061343"/>
            <a:ext cx="4216558" cy="2320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lnSpc>
                <a:spcPct val="133000"/>
              </a:lnSpc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Students juggle multiple websites and platforms for placement and exam preparation.</a:t>
            </a:r>
            <a:endParaRPr lang="en-US" sz="1100" dirty="0"/>
          </a:p>
          <a:p>
            <a:pPr marL="171450" indent="-171450">
              <a:lnSpc>
                <a:spcPct val="133000"/>
              </a:lnSpc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Resources are scattered across sources and hard to organise.</a:t>
            </a:r>
            <a:endParaRPr lang="en-US" sz="1100" dirty="0"/>
          </a:p>
          <a:p>
            <a:pPr marL="171450" indent="-171450">
              <a:lnSpc>
                <a:spcPct val="133000"/>
              </a:lnSpc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No centralised system exists to track progress and bookmarks.</a:t>
            </a:r>
            <a:endParaRPr lang="en-US" sz="1100" dirty="0"/>
          </a:p>
          <a:p>
            <a:pPr marL="171450" indent="-171450">
              <a:lnSpc>
                <a:spcPct val="133000"/>
              </a:lnSpc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Manual management of study materials is inefficient and time-consuming.</a:t>
            </a:r>
            <a:endParaRPr lang="en-US" sz="1100" dirty="0"/>
          </a:p>
          <a:p>
            <a:pPr marL="171450" indent="-171450">
              <a:lnSpc>
                <a:spcPct val="133000"/>
              </a:lnSpc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Secure, personalised access to preparation resources is limited.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D738E4-FBB6-C184-5818-1C332E0FE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234" y="0"/>
            <a:ext cx="345076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88826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0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Overview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055787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  Preparation Hub centralises learning resources for placement and competitive exam preparation. Students sign in securely with Amazon Cognito, browse categorised study materials, bookmark key items, and monitor progress via a personalised dashboard.   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122512"/>
            <a:ext cx="2290465" cy="1308571"/>
          </a:xfrm>
          <a:prstGeom prst="roundRect">
            <a:avLst>
              <a:gd name="adj" fmla="val 4550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85927" y="2283321"/>
            <a:ext cx="19688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85927" y="2589833"/>
            <a:ext cx="19688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Static frontend hosted on Amazon S3 for fast, secure delivery.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122512"/>
            <a:ext cx="2290539" cy="1308571"/>
          </a:xfrm>
          <a:prstGeom prst="roundRect">
            <a:avLst>
              <a:gd name="adj" fmla="val 4550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8151" y="2283321"/>
            <a:ext cx="1968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18151" y="2589833"/>
            <a:ext cx="19689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Serverless business logic with AWS Lambda; API Gateway manages requests.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572842"/>
            <a:ext cx="4722763" cy="1081757"/>
          </a:xfrm>
          <a:prstGeom prst="roundRect">
            <a:avLst>
              <a:gd name="adj" fmla="val 5504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85927" y="3733651"/>
            <a:ext cx="4401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85927" y="4040163"/>
            <a:ext cx="44011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 profiles, bookmarks, and progress stored safely in Amazon DynamoDB.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943559-7717-A6CE-2318-A673D80A1BBF}"/>
              </a:ext>
            </a:extLst>
          </p:cNvPr>
          <p:cNvSpPr txBox="1"/>
          <p:nvPr/>
        </p:nvSpPr>
        <p:spPr>
          <a:xfrm>
            <a:off x="8032652" y="4774168"/>
            <a:ext cx="1041010" cy="369332"/>
          </a:xfrm>
          <a:prstGeom prst="rect">
            <a:avLst/>
          </a:prstGeom>
          <a:solidFill>
            <a:srgbClr val="00003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8043"/>
            <a:ext cx="8151763" cy="34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0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88" y="2083445"/>
            <a:ext cx="419100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4318" y="2059632"/>
            <a:ext cx="130872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Authentication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2398" y="2809056"/>
            <a:ext cx="13087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Single sign-on and robust identity management via Amazon Cognito.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059632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8" y="2059632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Personalised Dashboard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74578" y="2814414"/>
            <a:ext cx="13087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Track learning milestones, recent activity and personalised goals.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059632"/>
            <a:ext cx="419100" cy="4191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6833" y="2059632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Bookmark Management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56832" y="2839912"/>
            <a:ext cx="13087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Save and categorise resources for quick revisit and revision planning.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059632"/>
            <a:ext cx="419100" cy="4191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9087" y="2059632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Serverless &amp; Scalable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97204" y="2790458"/>
            <a:ext cx="1416205" cy="95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Backend implemented with AWS Lambda and API Gateway for elastic scaling.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4E55AE-FB89-C0B8-2FBA-6040A80AA743}"/>
              </a:ext>
            </a:extLst>
          </p:cNvPr>
          <p:cNvSpPr txBox="1"/>
          <p:nvPr/>
        </p:nvSpPr>
        <p:spPr>
          <a:xfrm>
            <a:off x="7993484" y="4774168"/>
            <a:ext cx="1150516" cy="369332"/>
          </a:xfrm>
          <a:prstGeom prst="rect">
            <a:avLst/>
          </a:prstGeom>
          <a:solidFill>
            <a:srgbClr val="00003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239292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0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Services Used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933797"/>
            <a:ext cx="2299835" cy="215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1. Amazon S3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Hosts the static website and assets.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2. Amazon Cognito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Secure authentication and user management.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3. AWS Lambda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Serverless backend for business logic.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64201" y="1933798"/>
            <a:ext cx="2188443" cy="1970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4. Amazon DynamoDB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Stores profiles, bookmarks, progress.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5. Amazon API Gateway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Frontend-to-backend integration and routing.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D5A5DD-EECA-29F1-9F4E-829EC4815C65}"/>
              </a:ext>
            </a:extLst>
          </p:cNvPr>
          <p:cNvSpPr txBox="1"/>
          <p:nvPr/>
        </p:nvSpPr>
        <p:spPr>
          <a:xfrm>
            <a:off x="8071106" y="4774168"/>
            <a:ext cx="1048043" cy="369332"/>
          </a:xfrm>
          <a:prstGeom prst="rect">
            <a:avLst/>
          </a:prstGeom>
          <a:solidFill>
            <a:srgbClr val="00003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70A4137-18D1-8D4B-123B-3B665EBA1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5744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389855"/>
            <a:ext cx="4722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0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2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19" y="908968"/>
            <a:ext cx="4722763" cy="28807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38855" y="1472160"/>
            <a:ext cx="1076326" cy="143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792753" y="2749286"/>
            <a:ext cx="1076326" cy="143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709935" y="1609558"/>
            <a:ext cx="1111293" cy="143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Cognito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56027" y="3083104"/>
            <a:ext cx="1076326" cy="143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411363" y="1909603"/>
            <a:ext cx="1076326" cy="143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925119" y="3929881"/>
            <a:ext cx="4722763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 serverless, event-driven architecture: static frontend on S3, secure authentication via Cognito, API Gateway routing to Lambda, and DynamoDB for low-latency storage. This delivers scalable, cost-efficient operations with minimal management overhead.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13EE24-F2CE-B4C6-889F-09AC0E17740F}"/>
              </a:ext>
            </a:extLst>
          </p:cNvPr>
          <p:cNvSpPr txBox="1"/>
          <p:nvPr/>
        </p:nvSpPr>
        <p:spPr>
          <a:xfrm>
            <a:off x="8067822" y="4874454"/>
            <a:ext cx="1076178" cy="269045"/>
          </a:xfrm>
          <a:prstGeom prst="rect">
            <a:avLst/>
          </a:prstGeom>
          <a:solidFill>
            <a:srgbClr val="00003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723D58D-1BF8-EED1-1680-06C0218CF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0" y="0"/>
            <a:ext cx="366212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4057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0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66924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466924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Study Assistant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1773436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Context-aware tutoring, question summarisation and clarifications.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7732" y="1466924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9197" y="1473146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Personalised Recommendations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369196" y="1773436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Adaptive content suggestions based on performance and goals.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027658" y="2817093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7732" y="2510582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69199" y="2510582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 Analyzer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369198" y="2817093"/>
            <a:ext cx="34557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Automated CV checks with role-matching suggestions.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8" y="2510582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7657" y="2466306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Application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027658" y="2824163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Native iOS/Android apps for on-the-go learning and push notifications.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30227" y="3848471"/>
            <a:ext cx="354360" cy="3543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464197" y="3859933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 Dashboard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3429028" y="4241407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Institution-level metrics and student engagement insights.</a:t>
            </a: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5DA905-9CF5-7187-2C7B-CD9EEA7EA6B8}"/>
              </a:ext>
            </a:extLst>
          </p:cNvPr>
          <p:cNvSpPr txBox="1"/>
          <p:nvPr/>
        </p:nvSpPr>
        <p:spPr>
          <a:xfrm>
            <a:off x="8021869" y="4705478"/>
            <a:ext cx="1055077" cy="369332"/>
          </a:xfrm>
          <a:prstGeom prst="rect">
            <a:avLst/>
          </a:prstGeom>
          <a:solidFill>
            <a:srgbClr val="00003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168450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0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735410"/>
            <a:ext cx="4722763" cy="22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Centralised platform simplifies student preparation and resource discovery.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Bookmarks and progress tracking improve study efficiency and retention.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Secure authentication through Amazon Cognito protects user data.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Serverless AWS architecture offers scalability, reliability and low operational overhead.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Platform design supports future AI-driven personalisation and mobile reach.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620A7C-4F06-AF8E-FE34-2D468532F052}"/>
              </a:ext>
            </a:extLst>
          </p:cNvPr>
          <p:cNvSpPr txBox="1"/>
          <p:nvPr/>
        </p:nvSpPr>
        <p:spPr>
          <a:xfrm>
            <a:off x="8050005" y="4698609"/>
            <a:ext cx="1076178" cy="369332"/>
          </a:xfrm>
          <a:prstGeom prst="rect">
            <a:avLst/>
          </a:prstGeom>
          <a:solidFill>
            <a:srgbClr val="00003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E14A3D-1A7D-1263-C74D-0DA5A4FE8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146100" y="451952"/>
            <a:ext cx="4380475" cy="45227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0387"/>
            <a:ext cx="8151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5550" dirty="0"/>
          </a:p>
        </p:txBody>
      </p:sp>
      <p:sp>
        <p:nvSpPr>
          <p:cNvPr id="3" name="Text 1"/>
          <p:cNvSpPr/>
          <p:nvPr/>
        </p:nvSpPr>
        <p:spPr>
          <a:xfrm>
            <a:off x="267519" y="199995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Questions?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569" y="2454811"/>
            <a:ext cx="2897367" cy="1779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4D6F03-FC1E-C7C9-5338-2072EB985576}"/>
              </a:ext>
            </a:extLst>
          </p:cNvPr>
          <p:cNvSpPr txBox="1"/>
          <p:nvPr/>
        </p:nvSpPr>
        <p:spPr>
          <a:xfrm>
            <a:off x="7990448" y="4774168"/>
            <a:ext cx="1153551" cy="369332"/>
          </a:xfrm>
          <a:prstGeom prst="rect">
            <a:avLst/>
          </a:prstGeom>
          <a:solidFill>
            <a:srgbClr val="00003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470</Words>
  <Application>Microsoft Office PowerPoint</Application>
  <PresentationFormat>On-screen Show (16:9)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Heebo Light</vt:lpstr>
      <vt:lpstr>Arial</vt:lpstr>
      <vt:lpstr>Montserrat</vt:lpstr>
      <vt:lpstr>Wingdings</vt:lpstr>
      <vt:lpstr>Heebo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Kumara Vishnu Chattu</dc:creator>
  <cp:lastModifiedBy>Kumara Vishnu Chattu</cp:lastModifiedBy>
  <cp:revision>8</cp:revision>
  <dcterms:created xsi:type="dcterms:W3CDTF">2026-07-13T06:25:39Z</dcterms:created>
  <dcterms:modified xsi:type="dcterms:W3CDTF">2026-07-13T09:03:53Z</dcterms:modified>
</cp:coreProperties>
</file>